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9" r:id="rId6"/>
    <p:sldId id="392" r:id="rId7"/>
    <p:sldId id="393" r:id="rId8"/>
    <p:sldId id="394" r:id="rId9"/>
    <p:sldId id="395" r:id="rId10"/>
    <p:sldId id="396" r:id="rId11"/>
    <p:sldId id="398" r:id="rId12"/>
    <p:sldId id="397" r:id="rId13"/>
    <p:sldId id="400"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81" d="100"/>
          <a:sy n="81" d="100"/>
        </p:scale>
        <p:origin x="139" y="6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14-Aug-26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14-Aug-26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3657867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11</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14-08-2026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14-08-2026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14-08-2026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14-08-2026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14-08-2026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14-08-2026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14-08-2026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14-08-2026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14-08-2026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14-08-2026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14-08-2026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14-08-2026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14-08-2026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14-08-2026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14-08-2026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14-08-2026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14-08-2026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14-08-2026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1207890"/>
          </a:xfrm>
        </p:spPr>
        <p:txBody>
          <a:bodyPr>
            <a:noAutofit/>
          </a:bodyPr>
          <a:lstStyle/>
          <a:p>
            <a:pPr algn="ctr">
              <a:lnSpc>
                <a:spcPct val="100000"/>
              </a:lnSpc>
            </a:pPr>
            <a:br>
              <a:rPr lang="en-US" sz="2400" b="1" dirty="0">
                <a:solidFill>
                  <a:srgbClr val="011893"/>
                </a:solidFill>
                <a:cs typeface="Arial" panose="020B0604020202020204" pitchFamily="34" charset="0"/>
              </a:rPr>
            </a:br>
            <a:r>
              <a:rPr lang="en-US" sz="2400" b="1" dirty="0">
                <a:solidFill>
                  <a:srgbClr val="011893"/>
                </a:solidFill>
                <a:latin typeface="+mn-lt"/>
                <a:cs typeface="Arial" panose="020B0604020202020204" pitchFamily="34" charset="0"/>
              </a:rPr>
              <a:t>1</a:t>
            </a:r>
            <a:r>
              <a:rPr lang="en-US" sz="2400" b="1" baseline="30000" dirty="0">
                <a:solidFill>
                  <a:srgbClr val="011893"/>
                </a:solidFill>
                <a:latin typeface="+mn-lt"/>
                <a:cs typeface="Arial" panose="020B0604020202020204" pitchFamily="34" charset="0"/>
              </a:rPr>
              <a:t>st</a:t>
            </a:r>
            <a:r>
              <a:rPr lang="en-US" sz="2400" b="1" dirty="0">
                <a:solidFill>
                  <a:srgbClr val="011893"/>
                </a:solidFill>
                <a:latin typeface="+mn-lt"/>
                <a:cs typeface="Arial" panose="020B0604020202020204" pitchFamily="34" charset="0"/>
              </a:rPr>
              <a:t>  REVIEW</a:t>
            </a:r>
            <a:br>
              <a:rPr lang="en-US" sz="2400" b="1" dirty="0">
                <a:solidFill>
                  <a:srgbClr val="011893"/>
                </a:solidFill>
                <a:latin typeface="+mn-lt"/>
                <a:cs typeface="Arial" panose="020B0604020202020204" pitchFamily="34" charset="0"/>
              </a:rPr>
            </a:br>
            <a:br>
              <a:rPr lang="en-US" sz="2400" b="1" dirty="0">
                <a:solidFill>
                  <a:srgbClr val="011893"/>
                </a:solidFill>
                <a:latin typeface="+mn-lt"/>
                <a:cs typeface="Arial" panose="020B0604020202020204" pitchFamily="34" charset="0"/>
              </a:rPr>
            </a:br>
            <a:r>
              <a:rPr lang="en-US" sz="2400" b="1" dirty="0">
                <a:solidFill>
                  <a:srgbClr val="011893"/>
                </a:solidFill>
                <a:latin typeface="+mn-lt"/>
                <a:cs typeface="Arial" panose="020B0604020202020204" pitchFamily="34" charset="0"/>
              </a:rPr>
              <a:t>Event Management &amp; Analytics Portal for Event Management</a:t>
            </a:r>
            <a:br>
              <a:rPr lang="en-US" sz="2400" b="1" dirty="0">
                <a:solidFill>
                  <a:srgbClr val="011893"/>
                </a:solidFill>
                <a:latin typeface="Arial" panose="020B0604020202020204" pitchFamily="34" charset="0"/>
                <a:cs typeface="Arial" panose="020B0604020202020204" pitchFamily="34" charset="0"/>
              </a:rPr>
            </a:br>
            <a:endParaRPr lang="en-US" sz="2400" b="1" dirty="0">
              <a:solidFill>
                <a:srgbClr val="011893"/>
              </a:solidFill>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S. </a:t>
            </a:r>
            <a:r>
              <a:rPr lang="en-US" sz="2400" dirty="0" err="1">
                <a:solidFill>
                  <a:srgbClr val="00B050"/>
                </a:solidFill>
              </a:rPr>
              <a:t>Spandana</a:t>
            </a:r>
            <a:r>
              <a:rPr lang="en-US" sz="2400" dirty="0">
                <a:solidFill>
                  <a:srgbClr val="00B050"/>
                </a:solidFill>
              </a:rPr>
              <a:t> </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413631967"/>
              </p:ext>
            </p:extLst>
          </p:nvPr>
        </p:nvGraphicFramePr>
        <p:xfrm>
          <a:off x="2314804" y="1802047"/>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B. HEMA SRI</a:t>
                      </a:r>
                    </a:p>
                  </a:txBody>
                  <a:tcPr/>
                </a:tc>
                <a:tc>
                  <a:txBody>
                    <a:bodyPr/>
                    <a:lstStyle/>
                    <a:p>
                      <a:r>
                        <a:rPr lang="en-US" dirty="0"/>
                        <a:t>2520030159</a:t>
                      </a:r>
                    </a:p>
                  </a:txBody>
                  <a:tcPr/>
                </a:tc>
                <a:extLst>
                  <a:ext uri="{0D108BD9-81ED-4DB2-BD59-A6C34878D82A}">
                    <a16:rowId xmlns:a16="http://schemas.microsoft.com/office/drawing/2014/main" val="253518174"/>
                  </a:ext>
                </a:extLst>
              </a:tr>
              <a:tr h="370840">
                <a:tc>
                  <a:txBody>
                    <a:bodyPr/>
                    <a:lstStyle/>
                    <a:p>
                      <a:r>
                        <a:rPr lang="en-US" dirty="0"/>
                        <a:t>P. HAVISHAA REDDY</a:t>
                      </a:r>
                    </a:p>
                  </a:txBody>
                  <a:tcPr/>
                </a:tc>
                <a:tc>
                  <a:txBody>
                    <a:bodyPr/>
                    <a:lstStyle/>
                    <a:p>
                      <a:r>
                        <a:rPr lang="en-US" dirty="0"/>
                        <a:t>2520030371</a:t>
                      </a:r>
                    </a:p>
                  </a:txBody>
                  <a:tcPr/>
                </a:tc>
                <a:extLst>
                  <a:ext uri="{0D108BD9-81ED-4DB2-BD59-A6C34878D82A}">
                    <a16:rowId xmlns:a16="http://schemas.microsoft.com/office/drawing/2014/main" val="2413438055"/>
                  </a:ext>
                </a:extLst>
              </a:tr>
              <a:tr h="370840">
                <a:tc>
                  <a:txBody>
                    <a:bodyPr/>
                    <a:lstStyle/>
                    <a:p>
                      <a:r>
                        <a:rPr lang="en-US" dirty="0"/>
                        <a:t>K. BHARGAVI</a:t>
                      </a:r>
                    </a:p>
                  </a:txBody>
                  <a:tcPr/>
                </a:tc>
                <a:tc>
                  <a:txBody>
                    <a:bodyPr/>
                    <a:lstStyle/>
                    <a:p>
                      <a:r>
                        <a:rPr lang="en-US" dirty="0"/>
                        <a:t>2520030074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824269116"/>
              </p:ext>
            </p:extLst>
          </p:nvPr>
        </p:nvGraphicFramePr>
        <p:xfrm>
          <a:off x="838199" y="1416193"/>
          <a:ext cx="10515600" cy="387268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solidFill>
                            <a:schemeClr val="tx1">
                              <a:lumMod val="95000"/>
                              <a:lumOff val="5000"/>
                            </a:schemeClr>
                          </a:solidFill>
                        </a:rPr>
                        <a:t>B. HEMA 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Gathered information related to the problem statement and solution.</a:t>
                      </a:r>
                    </a:p>
                    <a:p>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solidFill>
                            <a:schemeClr val="tx1">
                              <a:lumMod val="95000"/>
                              <a:lumOff val="5000"/>
                            </a:schemeClr>
                          </a:solidFill>
                        </a:rPr>
                        <a:t>P. HAVISHAA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lumMod val="95000"/>
                              <a:lumOff val="5000"/>
                            </a:schemeClr>
                          </a:solidFill>
                        </a:rPr>
                        <a:t>Worked on the abstract and researched on the existing solutions.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K. BHARGAVI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lumMod val="95000"/>
                              <a:lumOff val="5000"/>
                            </a:schemeClr>
                          </a:solidFill>
                        </a:rPr>
                        <a:t>Prepared PPT and </a:t>
                      </a:r>
                      <a:r>
                        <a:rPr lang="en-GB" b="0" dirty="0">
                          <a:solidFill>
                            <a:schemeClr val="tx1">
                              <a:lumMod val="95000"/>
                              <a:lumOff val="5000"/>
                            </a:schemeClr>
                          </a:solidFill>
                        </a:rPr>
                        <a:t>p</a:t>
                      </a:r>
                      <a:r>
                        <a:rPr lang="en-GB" dirty="0"/>
                        <a:t>rovided </a:t>
                      </a:r>
                      <a:r>
                        <a:rPr lang="en-GB" b="0" dirty="0"/>
                        <a:t>context/background research.</a:t>
                      </a:r>
                      <a:endParaRPr lang="en-US" b="0"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234913" y="2187574"/>
            <a:ext cx="10005766" cy="4351338"/>
          </a:xfrm>
        </p:spPr>
        <p:txBody>
          <a:bodyPr>
            <a:normAutofit/>
          </a:bodyPr>
          <a:lstStyle/>
          <a:p>
            <a:r>
              <a:rPr lang="en-GB" sz="2200" dirty="0"/>
              <a:t>Event management is a complex process that requires careful coordination of tasks such as attendee registration, scheduling, communication, and reporting. Traditionally, these activities are handled manually, which often leads to inefficiency, errors, and difficulty in maintaining accurate records. As events become larger and more diverse, organizers face challenges in ensuring smooth check‑ins, keeping participants updated, and evaluating outcomes effectively. The absence of automation and structured analytics makes it harder to measure success, identify areas for improvement, and plan future events with confidence. This creates a clear need for a system that can streamline operations, reduce manual workload, and provide meaningful insights into event performance.</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159496" y="1825625"/>
            <a:ext cx="10052901" cy="4351338"/>
          </a:xfrm>
        </p:spPr>
        <p:txBody>
          <a:bodyPr>
            <a:normAutofit/>
          </a:bodyPr>
          <a:lstStyle/>
          <a:p>
            <a:r>
              <a:rPr lang="en-GB" sz="2200" dirty="0"/>
              <a:t>The Event Management and Analytics Portal is designed as a comprehensive solution to address these challenges by digitizing the entire event lifecycle. It provides modules for attendee registration with role assignment, event creation and updates, search and filters, QR‑based check‑in, notifications, and audit logs. These features simplify routine tasks, improve transparency, and ensure accountability throughout the process. In addition, the portal includes an analytics dashboard that presents visual insights into attendance, engagement, and overall success, enabling organizers to make data‑driven decisions. By automating operations and offering real‑time updates, the portal enhances communication between organizers and participants while reducing errors and delays. Overall, it delivers a reliable and efficient system that makes event planning and execution smarter, faster, and more effective, while also supporting continuous improvement through clear reporting and analysis.</a:t>
            </a:r>
          </a:p>
          <a:p>
            <a:endParaRPr lang="en-US" dirty="0"/>
          </a:p>
        </p:txBody>
      </p:sp>
    </p:spTree>
    <p:extLst>
      <p:ext uri="{BB962C8B-B14F-4D97-AF65-F5344CB8AC3E}">
        <p14:creationId xmlns:p14="http://schemas.microsoft.com/office/powerpoint/2010/main" val="251413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r>
              <a:rPr lang="en-US" sz="2200" dirty="0"/>
              <a:t>Event management requires handling registrations, scheduling, communication, and reporting. </a:t>
            </a:r>
          </a:p>
          <a:p>
            <a:r>
              <a:rPr lang="en-US" sz="2200" dirty="0"/>
              <a:t>Manual methods often cause delays, errors, and difficulty in tracking important details. </a:t>
            </a:r>
          </a:p>
          <a:p>
            <a:r>
              <a:rPr lang="en-US" sz="2200" dirty="0"/>
              <a:t>As events grow larger, organizers struggle with smooth check‑ins and proper evaluation. </a:t>
            </a:r>
          </a:p>
          <a:p>
            <a:r>
              <a:rPr lang="en-US" sz="2200" dirty="0"/>
              <a:t>This project introduces a portal that digitizes the entire event lifecycle.</a:t>
            </a:r>
          </a:p>
          <a:p>
            <a:r>
              <a:rPr lang="en-US" sz="2200" dirty="0"/>
              <a:t> It streamlines operations, improves transparency, and provides analytics for better decisions.</a:t>
            </a:r>
          </a:p>
          <a:p>
            <a:r>
              <a:rPr lang="en-US" sz="2200" dirty="0"/>
              <a:t>It covers registration, event creation, check‑in, and notifications. </a:t>
            </a:r>
          </a:p>
          <a:p>
            <a:r>
              <a:rPr lang="en-US" sz="2200" dirty="0"/>
              <a:t>Analytics and reporting help measure success and improve planning.</a:t>
            </a:r>
          </a:p>
          <a:p>
            <a:r>
              <a:rPr lang="en-US" sz="2200" dirty="0"/>
              <a:t> Overall, the portal makes event management smarter, faster, and more reliable.</a:t>
            </a:r>
          </a:p>
          <a:p>
            <a:endParaRPr lang="en-US" sz="2200" dirty="0"/>
          </a:p>
        </p:txBody>
      </p:sp>
    </p:spTree>
    <p:extLst>
      <p:ext uri="{BB962C8B-B14F-4D97-AF65-F5344CB8AC3E}">
        <p14:creationId xmlns:p14="http://schemas.microsoft.com/office/powerpoint/2010/main" val="2105092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1300899" y="1847850"/>
            <a:ext cx="9407951" cy="4351338"/>
          </a:xfrm>
        </p:spPr>
        <p:txBody>
          <a:bodyPr>
            <a:normAutofit/>
          </a:bodyPr>
          <a:lstStyle/>
          <a:p>
            <a:pPr marL="0" indent="0">
              <a:buNone/>
            </a:pPr>
            <a:r>
              <a:rPr lang="en-US" sz="2200" dirty="0"/>
              <a:t>Some of the existing and most used systems are:</a:t>
            </a:r>
          </a:p>
          <a:p>
            <a:endParaRPr lang="en-US" sz="2200" b="1" dirty="0"/>
          </a:p>
          <a:p>
            <a:r>
              <a:rPr lang="en-US" sz="2200" b="1" dirty="0"/>
              <a:t>Eventbrite</a:t>
            </a:r>
            <a:r>
              <a:rPr lang="en-US" sz="2200" dirty="0"/>
              <a:t> – A popular platform that focuses on online ticketing and registration, making it easy to organize public events like concerts, workshops, and meetups.</a:t>
            </a:r>
          </a:p>
          <a:p>
            <a:r>
              <a:rPr lang="en-US" sz="2200" b="1" dirty="0" err="1"/>
              <a:t>Cvent</a:t>
            </a:r>
            <a:r>
              <a:rPr lang="en-US" sz="2200" dirty="0"/>
              <a:t> – An enterprise‑level solution that offers end‑to‑end event management including venue sourcing, registration, logistics, and reporting for large conferences.</a:t>
            </a:r>
          </a:p>
          <a:p>
            <a:r>
              <a:rPr lang="en-US" sz="2200" b="1" dirty="0" err="1"/>
              <a:t>Bizzabo</a:t>
            </a:r>
            <a:r>
              <a:rPr lang="en-US" sz="2200" dirty="0"/>
              <a:t> – A modern event management system designed to boost attendee engagement with features like networking tools, event apps, and analytics for professional events.</a:t>
            </a:r>
          </a:p>
        </p:txBody>
      </p:sp>
    </p:spTree>
    <p:extLst>
      <p:ext uri="{BB962C8B-B14F-4D97-AF65-F5344CB8AC3E}">
        <p14:creationId xmlns:p14="http://schemas.microsoft.com/office/powerpoint/2010/main" val="3485086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838200" y="1720393"/>
            <a:ext cx="10515600" cy="5137607"/>
          </a:xfrm>
        </p:spPr>
        <p:txBody>
          <a:bodyPr>
            <a:normAutofit/>
          </a:bodyPr>
          <a:lstStyle/>
          <a:p>
            <a:r>
              <a:rPr lang="en-US" sz="2000" b="1" dirty="0"/>
              <a:t>Limited role management</a:t>
            </a:r>
            <a:r>
              <a:rPr lang="en-US" sz="2000" dirty="0"/>
              <a:t> – Many platforms don’t provide fine‑grained role‑based access, making it harder to separate organizer, staff, and attendee permissions.</a:t>
            </a:r>
          </a:p>
          <a:p>
            <a:r>
              <a:rPr lang="en-US" sz="2000" b="1" dirty="0"/>
              <a:t>Weak accountability</a:t>
            </a:r>
            <a:r>
              <a:rPr lang="en-US" sz="2000" dirty="0"/>
              <a:t> – Audit logs are often missing, so tracking who made changes or updates is difficult.</a:t>
            </a:r>
          </a:p>
          <a:p>
            <a:r>
              <a:rPr lang="en-US" sz="2000" b="1" dirty="0"/>
              <a:t>Fragmented lifecycle management</a:t>
            </a:r>
            <a:r>
              <a:rPr lang="en-US" sz="2000" dirty="0"/>
              <a:t> – Existing systems may handle registration or ticketing well but lack full end‑to‑end event lifecycle coverage.</a:t>
            </a:r>
          </a:p>
          <a:p>
            <a:r>
              <a:rPr lang="en-US" sz="2000" b="1" dirty="0"/>
              <a:t>Slow or manual check‑in</a:t>
            </a:r>
            <a:r>
              <a:rPr lang="en-US" sz="2000" dirty="0"/>
              <a:t> – QR‑based check‑in is not always integrated, leading to delays at entry points.</a:t>
            </a:r>
          </a:p>
          <a:p>
            <a:r>
              <a:rPr lang="en-US" sz="2000" b="1" dirty="0"/>
              <a:t>Basic reporting only</a:t>
            </a:r>
            <a:r>
              <a:rPr lang="en-US" sz="2000" dirty="0"/>
              <a:t> – Analytics are often limited to attendance counts without deeper insights into engagement or performance.</a:t>
            </a:r>
          </a:p>
          <a:p>
            <a:r>
              <a:rPr lang="en-US" sz="2000" b="1" dirty="0"/>
              <a:t>Poor search and filtering</a:t>
            </a:r>
            <a:r>
              <a:rPr lang="en-US" sz="2000" dirty="0"/>
              <a:t> – Finding specific event details or attendee records can be slow and inefficient.</a:t>
            </a:r>
          </a:p>
          <a:p>
            <a:r>
              <a:rPr lang="en-US" sz="2000" b="1" dirty="0"/>
              <a:t>Limited transparency and communication</a:t>
            </a:r>
            <a:r>
              <a:rPr lang="en-US" sz="2000" dirty="0"/>
              <a:t> – Notifications and real‑time updates are not always reliable, leaving participants uninformed.</a:t>
            </a:r>
          </a:p>
          <a:p>
            <a:endParaRPr lang="en-US" sz="2000" dirty="0"/>
          </a:p>
          <a:p>
            <a:pPr lvl="1"/>
            <a:endParaRPr lang="en-US" sz="2000" dirty="0"/>
          </a:p>
          <a:p>
            <a:endParaRPr lang="en-US" sz="2000" dirty="0"/>
          </a:p>
        </p:txBody>
      </p:sp>
    </p:spTree>
    <p:extLst>
      <p:ext uri="{BB962C8B-B14F-4D97-AF65-F5344CB8AC3E}">
        <p14:creationId xmlns:p14="http://schemas.microsoft.com/office/powerpoint/2010/main" val="2029224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825625"/>
            <a:ext cx="10515600" cy="4667250"/>
          </a:xfrm>
        </p:spPr>
        <p:txBody>
          <a:bodyPr>
            <a:normAutofit fontScale="25000" lnSpcReduction="20000"/>
          </a:bodyPr>
          <a:lstStyle/>
          <a:p>
            <a:r>
              <a:rPr lang="en-US" sz="8800" b="1" dirty="0"/>
              <a:t>Role-based access control </a:t>
            </a:r>
            <a:r>
              <a:rPr lang="en-US" sz="8800" dirty="0"/>
              <a:t>– Organizers, staff, and attendees have clearly defined permissions, improving security and reducing confusion.</a:t>
            </a:r>
          </a:p>
          <a:p>
            <a:r>
              <a:rPr lang="en-US" sz="8800" b="1" dirty="0"/>
              <a:t>Comprehensive audit logs </a:t>
            </a:r>
            <a:r>
              <a:rPr lang="en-US" sz="8800" dirty="0"/>
              <a:t>– Every action is tracked, providing accountability and transparency.</a:t>
            </a:r>
          </a:p>
          <a:p>
            <a:r>
              <a:rPr lang="en-US" sz="8800" b="1" dirty="0"/>
              <a:t>End-to-end lifecycle management </a:t>
            </a:r>
            <a:r>
              <a:rPr lang="en-US" sz="8800" dirty="0"/>
              <a:t>– The system manages events from creation to reporting in one place.</a:t>
            </a:r>
          </a:p>
          <a:p>
            <a:r>
              <a:rPr lang="en-US" sz="8800" b="1" dirty="0"/>
              <a:t>Integrated QR check-in </a:t>
            </a:r>
            <a:r>
              <a:rPr lang="en-US" sz="8800" dirty="0"/>
              <a:t>– Speeds up entry and reduces manual errors during live events.</a:t>
            </a:r>
          </a:p>
          <a:p>
            <a:r>
              <a:rPr lang="en-US" sz="8800" b="1" dirty="0"/>
              <a:t>Advanced analytics dashboard </a:t>
            </a:r>
            <a:r>
              <a:rPr lang="en-US" sz="8800" dirty="0"/>
              <a:t>– Provides visual insights into attendance, engagement, and performance for better decisions.</a:t>
            </a:r>
          </a:p>
          <a:p>
            <a:r>
              <a:rPr lang="en-US" sz="8800" b="1" dirty="0"/>
              <a:t>Efficient search and filters </a:t>
            </a:r>
            <a:r>
              <a:rPr lang="en-US" sz="8800" dirty="0"/>
              <a:t>– Helps organizers quickly locate event details or attendee records.</a:t>
            </a:r>
          </a:p>
          <a:p>
            <a:r>
              <a:rPr lang="en-US" sz="8800" b="1" dirty="0"/>
              <a:t>Real-time notifications and updates </a:t>
            </a:r>
            <a:r>
              <a:rPr lang="en-US" sz="8800" dirty="0"/>
              <a:t>– Keeps participants informed instantly, improving communication and overall experience.</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r>
              <a:rPr lang="en-US" sz="2200" dirty="0"/>
              <a:t>The objective of this project is to design a portal that digitizes the complete event management process.</a:t>
            </a:r>
          </a:p>
          <a:p>
            <a:r>
              <a:rPr lang="en-US" sz="2200" dirty="0"/>
              <a:t> It aims to reduce manual effort by automating tasks such as registration, scheduling, and check‑in. </a:t>
            </a:r>
          </a:p>
          <a:p>
            <a:r>
              <a:rPr lang="en-US" sz="2200" dirty="0"/>
              <a:t>The system seeks to improve transparency and accountability through audit logs and role‑based access. </a:t>
            </a:r>
          </a:p>
          <a:p>
            <a:r>
              <a:rPr lang="en-US" sz="2200" dirty="0"/>
              <a:t>Another objective is to provide real‑time communication and notifications to keep participants informed. </a:t>
            </a:r>
          </a:p>
          <a:p>
            <a:r>
              <a:rPr lang="en-US" sz="2200" dirty="0"/>
              <a:t>Finally, the project focuses on delivering analytics and reporting tools that help organizers evaluate success and make data‑driven decisions.</a:t>
            </a:r>
          </a:p>
        </p:txBody>
      </p:sp>
    </p:spTree>
    <p:extLst>
      <p:ext uri="{BB962C8B-B14F-4D97-AF65-F5344CB8AC3E}">
        <p14:creationId xmlns:p14="http://schemas.microsoft.com/office/powerpoint/2010/main" val="2402079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92500"/>
          </a:bodyPr>
          <a:lstStyle/>
          <a:p>
            <a:r>
              <a:rPr lang="en-US" sz="2400" b="1" dirty="0"/>
              <a:t>Attendee Registration </a:t>
            </a:r>
            <a:r>
              <a:rPr lang="en-US" sz="2400" dirty="0"/>
              <a:t>– Allows users to register with assigned roles for secure access.</a:t>
            </a:r>
          </a:p>
          <a:p>
            <a:r>
              <a:rPr lang="en-US" sz="2400" b="1" dirty="0"/>
              <a:t>Event Creation and Lifecycle Management </a:t>
            </a:r>
            <a:r>
              <a:rPr lang="en-US" sz="2400" dirty="0"/>
              <a:t>– Enables organizers to create, update, and manage events from start to finish.</a:t>
            </a:r>
          </a:p>
          <a:p>
            <a:r>
              <a:rPr lang="en-US" sz="2400" b="1" dirty="0"/>
              <a:t>Search and Filter </a:t>
            </a:r>
            <a:r>
              <a:rPr lang="en-US" sz="2400" dirty="0"/>
              <a:t>– Provides quick access to specific event details or attendee records.</a:t>
            </a:r>
          </a:p>
          <a:p>
            <a:r>
              <a:rPr lang="en-US" sz="2400" b="1" dirty="0"/>
              <a:t>QR‑based Check‑in </a:t>
            </a:r>
            <a:r>
              <a:rPr lang="en-US" sz="2400" dirty="0"/>
              <a:t>– Speeds up entry during live events and reduces manual errors.</a:t>
            </a:r>
          </a:p>
          <a:p>
            <a:r>
              <a:rPr lang="en-US" sz="2400" b="1" dirty="0"/>
              <a:t>Notifications</a:t>
            </a:r>
            <a:r>
              <a:rPr lang="en-US" sz="2400" dirty="0"/>
              <a:t> – Sends real‑time updates to keep participants informed.</a:t>
            </a:r>
          </a:p>
          <a:p>
            <a:r>
              <a:rPr lang="en-US" sz="2400" b="1" dirty="0"/>
              <a:t>Audit Logs </a:t>
            </a:r>
            <a:r>
              <a:rPr lang="en-US" sz="2400" dirty="0"/>
              <a:t>– Tracks all actions for accountability and transparency.</a:t>
            </a:r>
          </a:p>
          <a:p>
            <a:r>
              <a:rPr lang="en-US" sz="2400" b="1" dirty="0"/>
              <a:t>Analytics Dashboard </a:t>
            </a:r>
            <a:r>
              <a:rPr lang="en-US" sz="2400" dirty="0"/>
              <a:t>– Presents visual insights into attendance, engagement, and overall event performance.</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11" name="Rectangle 6">
            <a:extLst>
              <a:ext uri="{FF2B5EF4-FFF2-40B4-BE49-F238E27FC236}">
                <a16:creationId xmlns:a16="http://schemas.microsoft.com/office/drawing/2014/main" id="{D3C92DDA-F343-427E-B2B3-4DAE4B38848A}"/>
              </a:ext>
            </a:extLst>
          </p:cNvPr>
          <p:cNvSpPr>
            <a:spLocks noGrp="1" noChangeArrowheads="1"/>
          </p:cNvSpPr>
          <p:nvPr>
            <p:ph idx="1"/>
          </p:nvPr>
        </p:nvSpPr>
        <p:spPr bwMode="auto">
          <a:xfrm>
            <a:off x="1480008" y="1925509"/>
            <a:ext cx="9620057"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Operating System </a:t>
            </a:r>
            <a:r>
              <a:rPr kumimoji="0" lang="en-US" altLang="en-US" sz="1800" b="0" i="0" u="none" strike="noStrike" cap="none" normalizeH="0" baseline="0" dirty="0">
                <a:ln>
                  <a:noFill/>
                </a:ln>
                <a:solidFill>
                  <a:schemeClr val="tx1"/>
                </a:solidFill>
                <a:effectLst/>
                <a:latin typeface="Arial" panose="020B0604020202020204" pitchFamily="34" charset="0"/>
              </a:rPr>
              <a:t>– Windows 10 or higher for development and deployment.</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Front‑end </a:t>
            </a:r>
            <a:r>
              <a:rPr kumimoji="0" lang="en-US" altLang="en-US" sz="1800" b="0" i="0" u="none" strike="noStrike" cap="none" normalizeH="0" baseline="0" dirty="0">
                <a:ln>
                  <a:noFill/>
                </a:ln>
                <a:solidFill>
                  <a:schemeClr val="tx1"/>
                </a:solidFill>
                <a:effectLst/>
                <a:latin typeface="Arial" panose="020B0604020202020204" pitchFamily="34" charset="0"/>
              </a:rPr>
              <a:t>– React.js for building the user interface.</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Back‑end </a:t>
            </a:r>
            <a:r>
              <a:rPr kumimoji="0" lang="en-US" altLang="en-US" sz="1800" b="0" i="0" u="none" strike="noStrike" cap="none" normalizeH="0" baseline="0" dirty="0">
                <a:ln>
                  <a:noFill/>
                </a:ln>
                <a:solidFill>
                  <a:schemeClr val="tx1"/>
                </a:solidFill>
                <a:effectLst/>
                <a:latin typeface="Arial" panose="020B0604020202020204" pitchFamily="34" charset="0"/>
              </a:rPr>
              <a:t>– Node.js with Express.js for server‑side logic and APIs.</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 MySQL for structured data storage and management.</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ORM</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Sequelize</a:t>
            </a:r>
            <a:r>
              <a:rPr kumimoji="0" lang="en-US" altLang="en-US" sz="1800" b="0" i="0" u="none" strike="noStrike" cap="none" normalizeH="0" baseline="0" dirty="0">
                <a:ln>
                  <a:noFill/>
                </a:ln>
                <a:solidFill>
                  <a:schemeClr val="tx1"/>
                </a:solidFill>
                <a:effectLst/>
                <a:latin typeface="Arial" panose="020B0604020202020204" pitchFamily="34" charset="0"/>
              </a:rPr>
              <a:t> for easier interaction with the database.</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Authentication </a:t>
            </a:r>
            <a:r>
              <a:rPr kumimoji="0" lang="en-US" altLang="en-US" sz="1800" b="0" i="0" u="none" strike="noStrike" cap="none" normalizeH="0" baseline="0" dirty="0">
                <a:ln>
                  <a:noFill/>
                </a:ln>
                <a:solidFill>
                  <a:schemeClr val="tx1"/>
                </a:solidFill>
                <a:effectLst/>
                <a:latin typeface="Arial" panose="020B0604020202020204" pitchFamily="34" charset="0"/>
              </a:rPr>
              <a:t>– JWT (JSON Web Token) for secure login and role‑based access.</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Analytics </a:t>
            </a:r>
            <a:r>
              <a:rPr kumimoji="0" lang="en-US" altLang="en-US" sz="1800" b="0" i="0" u="none" strike="noStrike" cap="none" normalizeH="0" baseline="0" dirty="0">
                <a:ln>
                  <a:noFill/>
                </a:ln>
                <a:solidFill>
                  <a:schemeClr val="tx1"/>
                </a:solidFill>
                <a:effectLst/>
                <a:latin typeface="Arial" panose="020B0604020202020204" pitchFamily="34" charset="0"/>
              </a:rPr>
              <a:t>– Chart.js for generating interactive charts and dashboards.</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Development Tools </a:t>
            </a:r>
            <a:r>
              <a:rPr kumimoji="0" lang="en-US" altLang="en-US" sz="1800" b="0" i="0" u="none" strike="noStrike" cap="none" normalizeH="0" baseline="0" dirty="0">
                <a:ln>
                  <a:noFill/>
                </a:ln>
                <a:solidFill>
                  <a:schemeClr val="tx1"/>
                </a:solidFill>
                <a:effectLst/>
                <a:latin typeface="Arial" panose="020B0604020202020204" pitchFamily="34" charset="0"/>
              </a:rPr>
              <a:t>– Visual Studio Code (IDE), GitHub for version control.</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Browser</a:t>
            </a:r>
            <a:r>
              <a:rPr kumimoji="0" lang="en-US" altLang="en-US" sz="1800" b="0" i="0" u="none" strike="noStrike" cap="none" normalizeH="0" baseline="0" dirty="0">
                <a:ln>
                  <a:noFill/>
                </a:ln>
                <a:solidFill>
                  <a:schemeClr val="tx1"/>
                </a:solidFill>
                <a:effectLst/>
                <a:latin typeface="Arial" panose="020B0604020202020204" pitchFamily="34" charset="0"/>
              </a:rPr>
              <a:t> – Google Chrome or Microsoft Edge for testing and running the portal.</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Package Manager </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npm</a:t>
            </a:r>
            <a:r>
              <a:rPr kumimoji="0" lang="en-US" altLang="en-US" sz="1800" b="0" i="0" u="none" strike="noStrike" cap="none" normalizeH="0" baseline="0" dirty="0">
                <a:ln>
                  <a:noFill/>
                </a:ln>
                <a:solidFill>
                  <a:schemeClr val="tx1"/>
                </a:solidFill>
                <a:effectLst/>
                <a:latin typeface="Arial" panose="020B0604020202020204" pitchFamily="34" charset="0"/>
              </a:rPr>
              <a:t> (Node Package Manager) for installing dependencies.</a:t>
            </a:r>
          </a:p>
        </p:txBody>
      </p:sp>
    </p:spTree>
    <p:extLst>
      <p:ext uri="{BB962C8B-B14F-4D97-AF65-F5344CB8AC3E}">
        <p14:creationId xmlns:p14="http://schemas.microsoft.com/office/powerpoint/2010/main" val="1098968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0395F-4C8C-46E7-8D10-986C4C0EF8DE}"/>
              </a:ext>
            </a:extLst>
          </p:cNvPr>
          <p:cNvSpPr>
            <a:spLocks noGrp="1"/>
          </p:cNvSpPr>
          <p:nvPr>
            <p:ph type="title"/>
          </p:nvPr>
        </p:nvSpPr>
        <p:spPr/>
        <p:txBody>
          <a:bodyPr/>
          <a:lstStyle/>
          <a:p>
            <a:pPr algn="ctr"/>
            <a:r>
              <a:rPr lang="en-US" b="1" dirty="0">
                <a:solidFill>
                  <a:srgbClr val="0070C0"/>
                </a:solidFill>
              </a:rPr>
              <a:t>CONCLUSION AND FUTURE SCOPE</a:t>
            </a:r>
            <a:endParaRPr lang="en-GB" dirty="0"/>
          </a:p>
        </p:txBody>
      </p:sp>
      <p:sp>
        <p:nvSpPr>
          <p:cNvPr id="3" name="Content Placeholder 2">
            <a:extLst>
              <a:ext uri="{FF2B5EF4-FFF2-40B4-BE49-F238E27FC236}">
                <a16:creationId xmlns:a16="http://schemas.microsoft.com/office/drawing/2014/main" id="{1142BDB6-0C37-44C9-9DDC-A7D3119B3E59}"/>
              </a:ext>
            </a:extLst>
          </p:cNvPr>
          <p:cNvSpPr>
            <a:spLocks noGrp="1"/>
          </p:cNvSpPr>
          <p:nvPr>
            <p:ph idx="1"/>
          </p:nvPr>
        </p:nvSpPr>
        <p:spPr>
          <a:xfrm>
            <a:off x="932861" y="2002000"/>
            <a:ext cx="10326278" cy="4351338"/>
          </a:xfrm>
        </p:spPr>
        <p:txBody>
          <a:bodyPr>
            <a:normAutofit/>
          </a:bodyPr>
          <a:lstStyle/>
          <a:p>
            <a:r>
              <a:rPr lang="en-US" sz="2200" b="1" dirty="0"/>
              <a:t>Conclusion</a:t>
            </a:r>
            <a:r>
              <a:rPr lang="en-US" sz="2200" dirty="0"/>
              <a:t> This project simplifies event management by combining registration, check‑in, communication, and analytics into one system. It reduces manual effort, minimizes errors, and gives organizers clear control over the entire process. Features like audit logs and role‑based access add transparency and accountability, making the portal more reliable than existing solutions.</a:t>
            </a:r>
          </a:p>
          <a:p>
            <a:r>
              <a:rPr lang="en-US" sz="2200" b="1" dirty="0"/>
              <a:t>Future Scope</a:t>
            </a:r>
            <a:r>
              <a:rPr lang="en-US" sz="2200" dirty="0"/>
              <a:t> The portal can be enhanced with AI‑driven planning and smart recommendations to optimize events. Mobile app integration will allow organizers and attendees to manage and access information on the go. Cloud deployment will make the system scalable for larger events, while support for hybrid and virtual formats will expand its reach. These improvements will help the portal evolve into a complete ecosystem for modern event management.</a:t>
            </a:r>
          </a:p>
          <a:p>
            <a:endParaRPr lang="en-GB" dirty="0"/>
          </a:p>
        </p:txBody>
      </p:sp>
      <p:sp>
        <p:nvSpPr>
          <p:cNvPr id="4" name="Date Placeholder 3">
            <a:extLst>
              <a:ext uri="{FF2B5EF4-FFF2-40B4-BE49-F238E27FC236}">
                <a16:creationId xmlns:a16="http://schemas.microsoft.com/office/drawing/2014/main" id="{5186DAB1-E8AF-49E1-B548-4A0470EFB91D}"/>
              </a:ext>
            </a:extLst>
          </p:cNvPr>
          <p:cNvSpPr>
            <a:spLocks noGrp="1"/>
          </p:cNvSpPr>
          <p:nvPr>
            <p:ph type="dt" sz="half" idx="10"/>
          </p:nvPr>
        </p:nvSpPr>
        <p:spPr/>
        <p:txBody>
          <a:bodyPr/>
          <a:lstStyle/>
          <a:p>
            <a:fld id="{3C447009-55DF-4EA5-900B-29AFB7C8438A}" type="datetime1">
              <a:rPr lang="en-IN" smtClean="0"/>
              <a:t>14-08-2026</a:t>
            </a:fld>
            <a:endParaRPr lang="en-US"/>
          </a:p>
        </p:txBody>
      </p:sp>
      <p:sp>
        <p:nvSpPr>
          <p:cNvPr id="5" name="Footer Placeholder 4">
            <a:extLst>
              <a:ext uri="{FF2B5EF4-FFF2-40B4-BE49-F238E27FC236}">
                <a16:creationId xmlns:a16="http://schemas.microsoft.com/office/drawing/2014/main" id="{B3F3DFB8-BAB6-4548-AC05-636867BD9379}"/>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21867C49-6BC4-4878-9C30-E987E07C5655}"/>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34554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8293</TotalTime>
  <Words>1391</Words>
  <Application>Microsoft Office PowerPoint</Application>
  <PresentationFormat>Widescreen</PresentationFormat>
  <Paragraphs>130</Paragraphs>
  <Slides>13</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 1st  REVIEW  Event Management &amp; Analytics Portal for Event Management </vt:lpstr>
      <vt:lpstr>GROUP NUMBER:1</vt:lpstr>
      <vt:lpstr>ABSTRACT</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MADHU</cp:lastModifiedBy>
  <cp:revision>101</cp:revision>
  <dcterms:created xsi:type="dcterms:W3CDTF">2022-05-20T10:20:31Z</dcterms:created>
  <dcterms:modified xsi:type="dcterms:W3CDTF">2026-08-14T08:13:21Z</dcterms:modified>
</cp:coreProperties>
</file>